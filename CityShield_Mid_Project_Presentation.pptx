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31"/>
  </p:normalViewPr>
  <p:slideViewPr>
    <p:cSldViewPr snapToGrid="0" snapToObjects="1">
      <p:cViewPr>
        <p:scale>
          <a:sx n="105" d="100"/>
          <a:sy n="105" d="100"/>
        </p:scale>
        <p:origin x="864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1CB726-8645-7B4F-99DD-432C632CA5AD}" type="datetimeFigureOut">
              <a:rPr lang="en-SA" smtClean="0"/>
              <a:t>05/03/2026 R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33645-17A2-1540-B89D-A8696568A163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415498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3645-17A2-1540-B89D-A8696568A163}" type="slidenum">
              <a:rPr lang="en-SA" smtClean="0"/>
              <a:t>11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938212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343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94960" y="731520"/>
            <a:ext cx="1371600" cy="1371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94960" y="10515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1117"/>
                </a:solidFill>
                <a:latin typeface="Calibri"/>
              </a:defRPr>
            </a:pPr>
            <a:r>
              <a:t>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CityShield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FF"/>
                </a:solidFill>
                <a:latin typeface="Calibri"/>
              </a:defRPr>
            </a:pPr>
            <a:r>
              <a:t>Simulating and Defending Smart City Cyberattacks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38404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8C8"/>
                </a:solidFill>
                <a:latin typeface="Calibri"/>
              </a:defRPr>
            </a:pPr>
            <a:r>
              <a:t>University of Ha'il  |  College of Computer Science and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805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Department of Information Security  |  Graduation Project II (ISEC471)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377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E676"/>
                </a:solidFill>
                <a:latin typeface="Calibri"/>
              </a:defRPr>
            </a:pPr>
            <a:r>
              <a:t>Supervisor: Dr. Ali Alferaidi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5394960"/>
            <a:ext cx="3657600" cy="11887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0" y="5486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Sami Obaid Alsulaymi (202208147)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760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Khaled Abdulaziz Alshammari (202102650)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6035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Abdulwahab Saad Alfayez (202102873)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394960"/>
            <a:ext cx="3657600" cy="11887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5486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Thamer Muteb Alshammari (202100655)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5760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Bati Meshal Albata (202206452)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Smart Cities &amp; Cybersecurity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What Are Smart Cities?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4FF"/>
                </a:solidFill>
                <a:latin typeface="Calibri"/>
              </a:rPr>
              <a:t>▸ </a:t>
            </a:r>
            <a:r>
              <a:rPr sz="1400">
                <a:solidFill>
                  <a:srgbClr val="B0B8C8"/>
                </a:solidFill>
                <a:latin typeface="Calibri"/>
              </a:rPr>
              <a:t>Urban environments powered by digital infrastructure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4FF"/>
                </a:solidFill>
                <a:latin typeface="Calibri"/>
              </a:rPr>
              <a:t>▸ </a:t>
            </a:r>
            <a:r>
              <a:rPr sz="1400">
                <a:solidFill>
                  <a:srgbClr val="B0B8C8"/>
                </a:solidFill>
                <a:latin typeface="Calibri"/>
              </a:rPr>
              <a:t>IoT devices controlling traffic, energy, water, and public safety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4FF"/>
                </a:solidFill>
                <a:latin typeface="Calibri"/>
              </a:rPr>
              <a:t>▸ </a:t>
            </a:r>
            <a:r>
              <a:rPr sz="1400">
                <a:solidFill>
                  <a:srgbClr val="B0B8C8"/>
                </a:solidFill>
                <a:latin typeface="Calibri"/>
              </a:rPr>
              <a:t>Connected systems generating massive real-time data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4FF"/>
                </a:solidFill>
                <a:latin typeface="Calibri"/>
              </a:rPr>
              <a:t>▸ </a:t>
            </a:r>
            <a:r>
              <a:rPr sz="1400">
                <a:solidFill>
                  <a:srgbClr val="B0B8C8"/>
                </a:solidFill>
                <a:latin typeface="Calibri"/>
              </a:rPr>
              <a:t>Critical services rely on continuous digital operations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4FF"/>
                </a:solidFill>
                <a:latin typeface="Calibri"/>
              </a:rPr>
              <a:t>▸ </a:t>
            </a:r>
            <a:r>
              <a:rPr sz="1400">
                <a:solidFill>
                  <a:srgbClr val="B0B8C8"/>
                </a:solidFill>
                <a:latin typeface="Calibri"/>
              </a:rPr>
              <a:t>75% increase in smart city IoT deployments (2023-2025)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3B5C"/>
                </a:solidFill>
                <a:latin typeface="Calibri"/>
              </a:defRPr>
            </a:pPr>
            <a:r>
              <a:t>Why Cybersecurity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3B5C"/>
                </a:solidFill>
                <a:latin typeface="Calibri"/>
              </a:rPr>
              <a:t>▸ </a:t>
            </a:r>
            <a:r>
              <a:rPr sz="1400">
                <a:solidFill>
                  <a:srgbClr val="B0B8C8"/>
                </a:solidFill>
                <a:latin typeface="Calibri"/>
              </a:rPr>
              <a:t>Cyberattacks on cities can disrupt essential services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3B5C"/>
                </a:solidFill>
                <a:latin typeface="Calibri"/>
              </a:rPr>
              <a:t>▸ </a:t>
            </a:r>
            <a:r>
              <a:rPr sz="1400">
                <a:solidFill>
                  <a:srgbClr val="B0B8C8"/>
                </a:solidFill>
                <a:latin typeface="Calibri"/>
              </a:rPr>
              <a:t>IoT devices expand the attack surface dramatically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3B5C"/>
                </a:solidFill>
                <a:latin typeface="Calibri"/>
              </a:rPr>
              <a:t>▸ </a:t>
            </a:r>
            <a:r>
              <a:rPr sz="1400">
                <a:solidFill>
                  <a:srgbClr val="B0B8C8"/>
                </a:solidFill>
                <a:latin typeface="Calibri"/>
              </a:rPr>
              <a:t>Single vulnerability can cascade across interconnected systems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3B5C"/>
                </a:solidFill>
                <a:latin typeface="Calibri"/>
              </a:rPr>
              <a:t>▸ </a:t>
            </a:r>
            <a:r>
              <a:rPr sz="1400">
                <a:solidFill>
                  <a:srgbClr val="B0B8C8"/>
                </a:solidFill>
                <a:latin typeface="Calibri"/>
              </a:rPr>
              <a:t>Real-world testing on production systems is too risky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3B5C"/>
                </a:solidFill>
                <a:latin typeface="Calibri"/>
              </a:rPr>
              <a:t>▸ </a:t>
            </a:r>
            <a:r>
              <a:rPr sz="1400">
                <a:solidFill>
                  <a:srgbClr val="B0B8C8"/>
                </a:solidFill>
                <a:latin typeface="Calibri"/>
              </a:rPr>
              <a:t>Defenders need safe environments to train and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Key Cybersecurity Challenges in Smart Cities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50800"/>
          </a:xfrm>
          <a:prstGeom prst="round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3B5C"/>
                </a:solidFill>
                <a:latin typeface="Calibri"/>
              </a:defRPr>
            </a:pPr>
            <a:r>
              <a:t>Expanding IoT Attack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F3B5C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Thousands of connected devices per city zone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3B5C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Many devices lack built-in security controls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3B5C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Heterogeneous protocols increase complexity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38328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383280" cy="508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79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F43"/>
                </a:solidFill>
                <a:latin typeface="Calibri"/>
              </a:defRPr>
            </a:pPr>
            <a:r>
              <a:t>No Safe Testing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37744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F9F43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Testing attacks on live infrastructure is dangerous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9F43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Limited cyber ranges for smart city domains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9F43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Academic institutions lack hands-on training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8" y="1645920"/>
            <a:ext cx="338328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598" y="1645920"/>
            <a:ext cx="3383280" cy="508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18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855F7"/>
                </a:solidFill>
                <a:latin typeface="Calibri"/>
              </a:defRPr>
            </a:pPr>
            <a:r>
              <a:t>Detection &amp; Response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8" y="237744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Difficulty evaluating detection mechanisms before deployment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Manual incident response is too slow for real-time attacks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No standardized way to measure MTTD/MTTR for city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Planned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D4FF"/>
                </a:solidFill>
              </a:rPr>
              <a:t>▸ </a:t>
            </a:r>
            <a:r>
              <a:rPr sz="1400">
                <a:solidFill>
                  <a:srgbClr val="B0B8C8"/>
                </a:solidFill>
                <a:latin typeface="Calibri"/>
              </a:rPr>
              <a:t>Develop modular microservices representing smart city domains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D4FF"/>
                </a:solidFill>
              </a:rPr>
              <a:t>▸ </a:t>
            </a:r>
            <a:r>
              <a:rPr sz="1400">
                <a:solidFill>
                  <a:srgbClr val="B0B8C8"/>
                </a:solidFill>
                <a:latin typeface="Calibri"/>
              </a:rPr>
              <a:t>Build a realistic smart city simulation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D4FF"/>
                </a:solidFill>
              </a:rPr>
              <a:t>▸ </a:t>
            </a:r>
            <a:r>
              <a:rPr sz="1400">
                <a:solidFill>
                  <a:srgbClr val="B0B8C8"/>
                </a:solidFill>
                <a:latin typeface="Calibri"/>
              </a:rPr>
              <a:t>Simulate realistic cyber-attack scenarios (MITRE ATT&amp;CK aligned)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D4FF"/>
                </a:solidFill>
              </a:rPr>
              <a:t>▸ </a:t>
            </a:r>
            <a:r>
              <a:rPr sz="1400">
                <a:solidFill>
                  <a:srgbClr val="B0B8C8"/>
                </a:solidFill>
                <a:latin typeface="Calibri"/>
              </a:rPr>
              <a:t>Deploy SIEM detection rules and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D4FF"/>
                </a:solidFill>
              </a:rPr>
              <a:t>▸ </a:t>
            </a:r>
            <a:r>
              <a:rPr sz="1400">
                <a:solidFill>
                  <a:srgbClr val="B0B8C8"/>
                </a:solidFill>
                <a:latin typeface="Calibri"/>
              </a:rPr>
              <a:t>Implement automated response playbooks (Ansible)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77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D4FF"/>
                </a:solidFill>
              </a:rPr>
              <a:t>▸ </a:t>
            </a:r>
            <a:r>
              <a:rPr sz="1400">
                <a:solidFill>
                  <a:srgbClr val="B0B8C8"/>
                </a:solidFill>
                <a:latin typeface="Calibri"/>
              </a:rPr>
              <a:t>Provide interactive dashboards and 3D visualization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303520" cy="48463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5303520" cy="5080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Objectives Achieved So Far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676"/>
                </a:solidFill>
              </a:rPr>
              <a:t>✓ </a:t>
            </a:r>
            <a:r>
              <a:rPr sz="1400" b="1">
                <a:solidFill>
                  <a:srgbClr val="FFFFFF"/>
                </a:solidFill>
                <a:latin typeface="Calibri"/>
              </a:rPr>
              <a:t>Modular Microservices</a:t>
            </a:r>
          </a:p>
          <a:p>
            <a:r>
              <a:rPr sz="1100">
                <a:solidFill>
                  <a:srgbClr val="6B7280"/>
                </a:solidFill>
                <a:latin typeface="Calibri"/>
              </a:rPr>
              <a:t>    3 simulators + 6 backend services deployed via Docker Compose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5059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676"/>
                </a:solidFill>
              </a:rPr>
              <a:t>✓ </a:t>
            </a:r>
            <a:r>
              <a:rPr sz="1400" b="1">
                <a:solidFill>
                  <a:srgbClr val="FFFFFF"/>
                </a:solidFill>
                <a:latin typeface="Calibri"/>
              </a:rPr>
              <a:t>Smart City Simulation</a:t>
            </a:r>
          </a:p>
          <a:p>
            <a:r>
              <a:rPr sz="1100">
                <a:solidFill>
                  <a:srgbClr val="6B7280"/>
                </a:solidFill>
                <a:latin typeface="Calibri"/>
              </a:rPr>
              <a:t>    Traffic, IoT sensors, and network emulator generating live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88950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676"/>
                </a:solidFill>
              </a:rPr>
              <a:t>✓ </a:t>
            </a:r>
            <a:r>
              <a:rPr sz="1400" b="1">
                <a:solidFill>
                  <a:srgbClr val="FFFFFF"/>
                </a:solidFill>
                <a:latin typeface="Calibri"/>
              </a:rPr>
              <a:t>Attack Scenarios</a:t>
            </a:r>
          </a:p>
          <a:p>
            <a:r>
              <a:rPr sz="1100">
                <a:solidFill>
                  <a:srgbClr val="6B7280"/>
                </a:solidFill>
                <a:latin typeface="Calibri"/>
              </a:rPr>
              <a:t>    21+ built-in scenarios including 10 OWASP + Cyber Range attacks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32841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676"/>
                </a:solidFill>
              </a:rPr>
              <a:t>✓ </a:t>
            </a:r>
            <a:r>
              <a:rPr sz="1400" b="1">
                <a:solidFill>
                  <a:srgbClr val="FFFFFF"/>
                </a:solidFill>
                <a:latin typeface="Calibri"/>
              </a:rPr>
              <a:t>Detection Engine</a:t>
            </a:r>
          </a:p>
          <a:p>
            <a:r>
              <a:rPr sz="1100">
                <a:solidFill>
                  <a:srgbClr val="6B7280"/>
                </a:solidFill>
                <a:latin typeface="Calibri"/>
              </a:rPr>
              <a:t>    25 YAML rules aligned to MITRE ATT&amp;CK, real-time alert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6732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676"/>
                </a:solidFill>
              </a:rPr>
              <a:t>✓ </a:t>
            </a:r>
            <a:r>
              <a:rPr sz="1400" b="1">
                <a:solidFill>
                  <a:srgbClr val="FFFFFF"/>
                </a:solidFill>
                <a:latin typeface="Calibri"/>
              </a:rPr>
              <a:t>Automated Response</a:t>
            </a:r>
          </a:p>
          <a:p>
            <a:r>
              <a:rPr sz="1100">
                <a:solidFill>
                  <a:srgbClr val="6B7280"/>
                </a:solidFill>
                <a:latin typeface="Calibri"/>
              </a:rPr>
              <a:t>    Ansible playbooks for block_ip, isolate_service, revoke_token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206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676"/>
                </a:solidFill>
              </a:rPr>
              <a:t>✓ </a:t>
            </a:r>
            <a:r>
              <a:rPr sz="1400" b="1">
                <a:solidFill>
                  <a:srgbClr val="FFFFFF"/>
                </a:solidFill>
                <a:latin typeface="Calibri"/>
              </a:rPr>
              <a:t>Dashboard &amp; 3D City</a:t>
            </a:r>
          </a:p>
          <a:p>
            <a:r>
              <a:rPr sz="1100">
                <a:solidFill>
                  <a:srgbClr val="6B7280"/>
                </a:solidFill>
                <a:latin typeface="Calibri"/>
              </a:rPr>
              <a:t>    Interactive 3D smart city with 6 zones, live attack 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Containerized Microservices on Docker Compose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76200" cy="6858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UI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Calibri"/>
              </a:defRPr>
            </a:pPr>
            <a:r>
              <a:t>React 18 + TypeScript + Three.js 3D 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1069848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76200" cy="68580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Calibri"/>
              </a:defRPr>
            </a:pPr>
            <a:r>
              <a:t>FastAPI + JWT Auth + RBAC + WebSocket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69848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76200" cy="6858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Data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375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Calibri"/>
              </a:defRPr>
            </a:pPr>
            <a:r>
              <a:t>OpenSearch 2.11 (9 indices) + Filebeat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1069848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76200" cy="685800"/>
          </a:xfrm>
          <a:prstGeom prst="round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5C"/>
                </a:solidFill>
                <a:latin typeface="Calibri"/>
              </a:defRPr>
            </a:pPr>
            <a:r>
              <a:t>Detection &amp;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60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Calibri"/>
              </a:defRPr>
            </a:pPr>
            <a:r>
              <a:t>Rule Engine (25 rules) + Response Manager (Ansible)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1069848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1520" y="4663440"/>
            <a:ext cx="76200" cy="6858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Simulation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834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Calibri"/>
              </a:defRPr>
            </a:pPr>
            <a:r>
              <a:t>Traffic Sim + IoT Sim + Network Emulator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86400"/>
            <a:ext cx="1069848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1520" y="5486400"/>
            <a:ext cx="76200" cy="6858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553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Cyber/IoT Range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8064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Calibri"/>
              </a:defRPr>
            </a:pPr>
            <a:r>
              <a:t>Metasploitable + Kali Attacker + IoT Target (isolated nets)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2057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28803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703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5262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Platform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Scenario Builder &amp; Smart City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Scenario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21+ built-in attack scenarios with 4-stage execution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10 OWASP Top 10 aligned scenarios (A01-A10:2021)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Custom Scenario Builder with MITRE technique selection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Real-time stage progression with live UI feedback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Attack Proposal workflow (Researcher → Admin approval)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30352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Smart City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846320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B0B8C8"/>
                </a:solidFill>
                <a:latin typeface="Calibri"/>
              </a:rPr>
              <a:t>Traffic Simulator —</a:t>
            </a:r>
            <a:r>
              <a:rPr lang="en-US" sz="1300" dirty="0">
                <a:solidFill>
                  <a:srgbClr val="B0B8C8"/>
                </a:solidFill>
                <a:latin typeface="Calibri"/>
              </a:rPr>
              <a:t> </a:t>
            </a:r>
            <a:r>
              <a:rPr sz="1300" dirty="0">
                <a:solidFill>
                  <a:srgbClr val="B0B8C8"/>
                </a:solidFill>
                <a:latin typeface="Calibri"/>
              </a:rPr>
              <a:t>signal events, incidents</a:t>
            </a:r>
          </a:p>
          <a:p>
            <a:pPr>
              <a:spcAft>
                <a:spcPts val="8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B0B8C8"/>
                </a:solidFill>
                <a:latin typeface="Calibri"/>
              </a:rPr>
              <a:t>IoT Simulator — sensor readings, anomalies, firmware events</a:t>
            </a:r>
          </a:p>
          <a:p>
            <a:pPr>
              <a:spcAft>
                <a:spcPts val="8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B0B8C8"/>
                </a:solidFill>
                <a:latin typeface="Calibri"/>
              </a:rPr>
              <a:t>Network Emulator — connections, DNS, firewall, scans</a:t>
            </a:r>
          </a:p>
          <a:p>
            <a:pPr>
              <a:spcAft>
                <a:spcPts val="8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B0B8C8"/>
                </a:solidFill>
                <a:latin typeface="Calibri"/>
              </a:rPr>
              <a:t>Each runs as independent </a:t>
            </a:r>
            <a:r>
              <a:rPr sz="1300" dirty="0" err="1">
                <a:solidFill>
                  <a:srgbClr val="B0B8C8"/>
                </a:solidFill>
                <a:latin typeface="Calibri"/>
              </a:rPr>
              <a:t>FastAPI</a:t>
            </a:r>
            <a:r>
              <a:rPr sz="1300" dirty="0">
                <a:solidFill>
                  <a:srgbClr val="B0B8C8"/>
                </a:solidFill>
                <a:latin typeface="Calibri"/>
              </a:rPr>
              <a:t> microservice</a:t>
            </a:r>
          </a:p>
          <a:p>
            <a:pPr>
              <a:spcAft>
                <a:spcPts val="800"/>
              </a:spcAft>
            </a:pPr>
            <a:r>
              <a:rPr sz="1300" dirty="0">
                <a:solidFill>
                  <a:srgbClr val="00E676"/>
                </a:solidFill>
                <a:latin typeface="Calibri"/>
              </a:rPr>
              <a:t>▸ </a:t>
            </a:r>
            <a:r>
              <a:rPr sz="1300" dirty="0">
                <a:solidFill>
                  <a:srgbClr val="B0B8C8"/>
                </a:solidFill>
                <a:latin typeface="Calibri"/>
              </a:rPr>
              <a:t>Events written to OpenSearch in real-time + JSONL backup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6 / 15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B6D0F3-503C-86AD-FBBB-0604484030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" t="12915"/>
          <a:stretch>
            <a:fillRect/>
          </a:stretch>
        </p:blipFill>
        <p:spPr>
          <a:xfrm>
            <a:off x="1302327" y="3756486"/>
            <a:ext cx="4019665" cy="22785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B4D3249-75D4-F040-CB71-6CA81A84E6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31" t="14892" r="207" b="6939"/>
          <a:stretch>
            <a:fillRect/>
          </a:stretch>
        </p:blipFill>
        <p:spPr>
          <a:xfrm>
            <a:off x="7028873" y="3813694"/>
            <a:ext cx="3974407" cy="22943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Platform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Logging Pipeline &amp; Detection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Calibri"/>
              </a:defRPr>
            </a:pPr>
            <a:r>
              <a:t>Centralized Logging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F9F43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Simulators generate JSON events → OpenSearch indices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9F43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Filebeat ships JSONL logs as secondary pipeline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9F43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3 log indices: logs-traffic, logs-iot, logs-network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9F43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OpenSearch Dashboards for ad-hoc log exploration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9F43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Real-time indexing with structured event schemas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114800"/>
            <a:ext cx="4389120" cy="19202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47548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9F43"/>
                </a:solidFill>
                <a:latin typeface="Calibri"/>
              </a:defRPr>
            </a:pPr>
            <a:r>
              <a:t>Simulators  →  JSONL + OpenSearch  →  Filebeat  →  logs-*  →  Detection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30352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3B5C"/>
                </a:solidFill>
                <a:latin typeface="Calibri"/>
              </a:defRPr>
            </a:pPr>
            <a:r>
              <a:t>Detection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F3B5C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25 YAML detection rules aligned to MITRE ATT&amp;CK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3B5C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Covers 25 techniques across multiple tactics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3B5C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Severity levels: Low, Medium, High, Critical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3B5C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Configurable query windows and thresholds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3B5C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Optional AbuseIPDB threat intelligence enrichment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114800"/>
            <a:ext cx="4389120" cy="1920240"/>
          </a:xfrm>
          <a:prstGeom prst="roundRect">
            <a:avLst/>
          </a:prstGeom>
          <a:solidFill>
            <a:srgbClr val="1A2235"/>
          </a:solidFill>
          <a:ln w="12700">
            <a:solidFill>
              <a:srgbClr val="F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42062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B5C"/>
                </a:solidFill>
                <a:latin typeface="Calibri"/>
              </a:defRPr>
            </a:pPr>
            <a:r>
              <a:t>Example Detection Rules: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457200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8"/>
                </a:solidFill>
                <a:latin typeface="Courier New"/>
              </a:defRPr>
            </a:pPr>
            <a:r>
              <a:t>T1046  Network Port Scan          │ High</a:t>
            </a:r>
            <a:br/>
            <a:r>
              <a:t>T1110  Brute Force Authentication  │ High</a:t>
            </a:r>
            <a:br/>
            <a:r>
              <a:t>T1498  DDoS Attack                 │ Critical</a:t>
            </a:r>
            <a:br/>
            <a:r>
              <a:t>T1041  Data Exfiltration           │ Critical</a:t>
            </a:r>
            <a:br/>
            <a:r>
              <a:t>T1486  Ransomware                  │ 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Platform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Automated Response &amp; Security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Automated Response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Response Manager polls alerts for auto-response triggers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Executes Ansible playbooks for containment actions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3 response actions: block_ip, isolate_service, revoke_token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Configurable per-rule: severity threshold, rate limits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Full audit trail in action-audit-log index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Manual execution also available for Analysts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30352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Security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Real-time overview with event counts and alert stats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Interactive 3D smart city with 25 assets across 6 zones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Live attack visualization with building flash effects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Alert investigation with Analysis, Actions, and Events tabs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Device Management with power control (Admin)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D4FF"/>
                </a:solidFill>
                <a:latin typeface="Calibri"/>
              </a:rPr>
              <a:t>▸ </a:t>
            </a:r>
            <a:r>
              <a:rPr sz="1300">
                <a:solidFill>
                  <a:srgbClr val="B0B8C8"/>
                </a:solidFill>
                <a:latin typeface="Calibri"/>
              </a:rPr>
              <a:t>WebSocket + REST polling for real-time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8 / 15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A8DED5B-DACC-A999-81DF-490F85D6A1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" t="12915"/>
          <a:stretch>
            <a:fillRect/>
          </a:stretch>
        </p:blipFill>
        <p:spPr>
          <a:xfrm>
            <a:off x="1554480" y="4082747"/>
            <a:ext cx="3657600" cy="20757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82AB0A-CFF4-3C33-1A00-621E684424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8" t="12915" r="30035" b="20627"/>
          <a:stretch>
            <a:fillRect/>
          </a:stretch>
        </p:blipFill>
        <p:spPr>
          <a:xfrm>
            <a:off x="7370618" y="4053547"/>
            <a:ext cx="3377738" cy="20963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User Roles &amp; Access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Role-Based Access Control (RBAC)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50800"/>
          </a:xfrm>
          <a:prstGeom prst="round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011680" y="1920240"/>
            <a:ext cx="731520" cy="731520"/>
          </a:xfrm>
          <a:prstGeom prst="ellipse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20116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1117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3B5C"/>
                </a:solidFill>
                <a:latin typeface="Calibri"/>
              </a:defRPr>
            </a:pPr>
            <a:r>
              <a:t>Administrator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3B5C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Manage system infrastructure and configuration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3B5C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Create and manage user accounts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3B5C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Approve/reject attack proposals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3B5C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Toggle device power on/off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3B5C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Full access to all platform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45920"/>
            <a:ext cx="338328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80559" y="1645920"/>
            <a:ext cx="3383280" cy="508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760719" y="1920240"/>
            <a:ext cx="731520" cy="7315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19" y="20116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1117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D4FF"/>
                </a:solidFill>
                <a:latin typeface="Calibri"/>
              </a:defRPr>
            </a:pPr>
            <a:r>
              <a:t>Security 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2004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D4FF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Monitor alerts and investigate incidents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D4FF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Execute manual response actions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D4FF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View logs and detection rule results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D4FF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Update alert status and investigation notes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D4FF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Access action audit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8" y="1645920"/>
            <a:ext cx="338328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598" y="1645920"/>
            <a:ext cx="3383280" cy="5080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58" y="1920240"/>
            <a:ext cx="731520" cy="7315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58" y="20116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1117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E676"/>
                </a:solidFill>
                <a:latin typeface="Calibri"/>
              </a:defRPr>
            </a:pPr>
            <a:r>
              <a:t>Researcher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8" y="32004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E676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Create and run attack scenarios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E676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Submit attack proposals for approval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E676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Configure detection rules and auto-response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E676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Access Research Lab (personal container)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E676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Build custom scenarios with MITRE techniques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Attack Scenario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End-to-End Example: DDoS Against Traffic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554480" cy="32004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1554480" cy="381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11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00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Researcher selects and</a:t>
            </a:r>
            <a:br/>
            <a:r>
              <a:t>runs attack 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1828800"/>
            <a:ext cx="1554480" cy="32004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965960" y="1828800"/>
            <a:ext cx="1554480" cy="3810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468880" y="2103120"/>
            <a:ext cx="548640" cy="54864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6888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11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Calibri"/>
              </a:defRPr>
            </a:pPr>
            <a:r>
              <a:t>Simulate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200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Simulators generate</a:t>
            </a:r>
            <a:br/>
            <a:r>
              <a:t>malicious traffic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1828800"/>
            <a:ext cx="1554480" cy="32004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57600" y="1828800"/>
            <a:ext cx="1554480" cy="381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160520" y="2103120"/>
            <a:ext cx="548640" cy="5486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1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F43"/>
                </a:solidFill>
                <a:latin typeface="Calibri"/>
              </a:defRPr>
            </a:pPr>
            <a:r>
              <a:t>Collect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3200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Events indexed in</a:t>
            </a:r>
            <a:br/>
            <a:r>
              <a:t>OpenSearch logs-*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9240" y="1828800"/>
            <a:ext cx="1554480" cy="32004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349240" y="1828800"/>
            <a:ext cx="1554480" cy="38100"/>
          </a:xfrm>
          <a:prstGeom prst="round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852160" y="2103120"/>
            <a:ext cx="548640" cy="548640"/>
          </a:xfrm>
          <a:prstGeom prst="ellipse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5216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11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3B5C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3200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Detection engine matches</a:t>
            </a:r>
            <a:br/>
            <a:r>
              <a:t>MITRE ATT&amp;CK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1828800"/>
            <a:ext cx="1554480" cy="32004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040880" y="1828800"/>
            <a:ext cx="1554480" cy="381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543800" y="2103120"/>
            <a:ext cx="548640" cy="5486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4380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11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200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Alert generated with</a:t>
            </a:r>
            <a:br/>
            <a:r>
              <a:t>severity and technique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32520" y="1828800"/>
            <a:ext cx="1554480" cy="32004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732520" y="1828800"/>
            <a:ext cx="1554480" cy="381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235440" y="210312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3544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11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Calibri"/>
              </a:defRPr>
            </a:pPr>
            <a:r>
              <a:t>Investigate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3200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Analyst reviews alert</a:t>
            </a:r>
            <a:br/>
            <a:r>
              <a:t>and related events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424160" y="1828800"/>
            <a:ext cx="1554480" cy="32004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0424160" y="1828800"/>
            <a:ext cx="1554480" cy="3810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927080" y="2103120"/>
            <a:ext cx="548640" cy="54864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92708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11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Calibri"/>
              </a:defRPr>
            </a:pPr>
            <a:r>
              <a:t>Respond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3200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Response action executed</a:t>
            </a:r>
            <a:br/>
            <a:r>
              <a:t>(auto or manual)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71600" y="5303520"/>
            <a:ext cx="9418320" cy="1097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645920" y="539496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676"/>
                </a:solidFill>
                <a:latin typeface="Calibri"/>
              </a:defRPr>
            </a:pPr>
            <a:r>
              <a:t>Result: Full attack lifecycle captured, analyzed, and responded to within the platform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45920" y="580644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8C8"/>
                </a:solidFill>
                <a:latin typeface="Calibri"/>
              </a:defRPr>
            </a:pPr>
            <a:r>
              <a:t>3D city shows live attack progress  |  Alerts generated in real-time  |  Full audit trail preserved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Current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982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rPr dirty="0"/>
              <a:t>Implementation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676"/>
                </a:solidFill>
              </a:rPr>
              <a:t>✓ </a:t>
            </a:r>
            <a:r>
              <a:rPr sz="1300" b="1">
                <a:solidFill>
                  <a:srgbClr val="FFFFFF"/>
                </a:solidFill>
                <a:latin typeface="Calibri"/>
              </a:rPr>
              <a:t>Platform Environment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   15 Docker containers deployed via Docker Compose with 3 isolated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676"/>
                </a:solidFill>
              </a:rPr>
              <a:t>✓ </a:t>
            </a:r>
            <a:r>
              <a:rPr sz="1300" b="1">
                <a:solidFill>
                  <a:srgbClr val="FFFFFF"/>
                </a:solidFill>
                <a:latin typeface="Calibri"/>
              </a:rPr>
              <a:t>Smart City Simulation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   3 simulators generating continuous traffic, IoT, and network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676"/>
                </a:solidFill>
              </a:rPr>
              <a:t>✓ </a:t>
            </a:r>
            <a:r>
              <a:rPr sz="1300" b="1">
                <a:solidFill>
                  <a:srgbClr val="FFFFFF"/>
                </a:solidFill>
                <a:latin typeface="Calibri"/>
              </a:rPr>
              <a:t>Logging Pipeline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   Filebeat + OpenSearch with 9 indices, structured event schemas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676"/>
                </a:solidFill>
              </a:rPr>
              <a:t>✓ </a:t>
            </a:r>
            <a:r>
              <a:rPr sz="1300" b="1">
                <a:solidFill>
                  <a:srgbClr val="FFFFFF"/>
                </a:solidFill>
                <a:latin typeface="Calibri"/>
              </a:rPr>
              <a:t>Detection Engine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   25 YAML rules covering MITRE ATT&amp;CK techniques, real-time alert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676"/>
                </a:solidFill>
              </a:rPr>
              <a:t>✓ </a:t>
            </a:r>
            <a:r>
              <a:rPr sz="1300" b="1">
                <a:solidFill>
                  <a:srgbClr val="FFFFFF"/>
                </a:solidFill>
                <a:latin typeface="Calibri"/>
              </a:rPr>
              <a:t>Automated Response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   Ansible playbooks with configurable auto-response per rule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303520" cy="50292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544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676"/>
                </a:solidFill>
              </a:rPr>
              <a:t>✓ </a:t>
            </a:r>
            <a:r>
              <a:rPr sz="1300" b="1">
                <a:solidFill>
                  <a:srgbClr val="FFFFFF"/>
                </a:solidFill>
                <a:latin typeface="Calibri"/>
              </a:rPr>
              <a:t>Web Dashboard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   Full React UI with 3D city, alerts, scenarios, devices, and admin panels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0574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676"/>
                </a:solidFill>
              </a:rPr>
              <a:t>✓ </a:t>
            </a:r>
            <a:r>
              <a:rPr sz="1300" b="1">
                <a:solidFill>
                  <a:srgbClr val="FFFFFF"/>
                </a:solidFill>
                <a:latin typeface="Calibri"/>
              </a:rPr>
              <a:t>Cyber Range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   Isolated Metasploitable + Kali attacker environment with packet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603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676"/>
                </a:solidFill>
              </a:rPr>
              <a:t>✓ </a:t>
            </a:r>
            <a:r>
              <a:rPr sz="1300" b="1">
                <a:solidFill>
                  <a:srgbClr val="FFFFFF"/>
                </a:solidFill>
                <a:latin typeface="Calibri"/>
              </a:rPr>
              <a:t>IoT Range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   Isolated IoT sensor hub target reachable from Research 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632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676"/>
                </a:solidFill>
              </a:rPr>
              <a:t>✓ </a:t>
            </a:r>
            <a:r>
              <a:rPr sz="1300" b="1">
                <a:solidFill>
                  <a:srgbClr val="FFFFFF"/>
                </a:solidFill>
                <a:latin typeface="Calibri"/>
              </a:rPr>
              <a:t>RBAC &amp; Authentication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   JWT-based auth with 3 roles (Administrator, Analyst, Researcher)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5661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676"/>
                </a:solidFill>
              </a:rPr>
              <a:t>✓ </a:t>
            </a:r>
            <a:r>
              <a:rPr sz="1300" b="1">
                <a:solidFill>
                  <a:srgbClr val="FFFFFF"/>
                </a:solidFill>
                <a:latin typeface="Calibri"/>
              </a:rPr>
              <a:t>Attack Scenarios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   21+ scenarios including 10 OWASP + custom builder with MITRE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Live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Platform Screenshots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3544" y="3035189"/>
            <a:ext cx="82249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rPr lang="en-US" sz="4800" dirty="0"/>
              <a:t>Now we will see the in the site </a:t>
            </a:r>
            <a:endParaRPr sz="4800" dirty="0"/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8224"/>
            <a:ext cx="1109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Roadmap</a:t>
            </a:r>
            <a:endParaRPr lang="en-US" sz="3733" dirty="0"/>
          </a:p>
        </p:txBody>
      </p:sp>
      <p:sp>
        <p:nvSpPr>
          <p:cNvPr id="34" name="Text 32"/>
          <p:cNvSpPr/>
          <p:nvPr/>
        </p:nvSpPr>
        <p:spPr>
          <a:xfrm>
            <a:off x="10850880" y="6400800"/>
            <a:ext cx="1097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6B7F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16</a:t>
            </a:r>
            <a:endParaRPr lang="en-US" sz="12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7D61DF7-0024-E76B-EB03-52BF1D5F4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079632" y="-256032"/>
            <a:ext cx="36552060" cy="8875776"/>
          </a:xfrm>
          <a:prstGeom prst="rect">
            <a:avLst/>
          </a:prstGeom>
        </p:spPr>
      </p:pic>
      <p:sp>
        <p:nvSpPr>
          <p:cNvPr id="36" name="Shape 1">
            <a:extLst>
              <a:ext uri="{FF2B5EF4-FFF2-40B4-BE49-F238E27FC236}">
                <a16:creationId xmlns:a16="http://schemas.microsoft.com/office/drawing/2014/main" id="{5A7549E4-4D0C-278A-4BF1-1E1D5D2D3C19}"/>
              </a:ext>
            </a:extLst>
          </p:cNvPr>
          <p:cNvSpPr/>
          <p:nvPr/>
        </p:nvSpPr>
        <p:spPr>
          <a:xfrm>
            <a:off x="701040" y="1127760"/>
            <a:ext cx="2682240" cy="6705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SA" sz="240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5912C187-1215-540B-E249-CBF63AFF977C}"/>
              </a:ext>
            </a:extLst>
          </p:cNvPr>
          <p:cNvSpPr/>
          <p:nvPr/>
        </p:nvSpPr>
        <p:spPr>
          <a:xfrm>
            <a:off x="701040" y="1164336"/>
            <a:ext cx="1109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6B7F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6-Month Project Timeline</a:t>
            </a:r>
            <a:endParaRPr lang="en-US" sz="1733" dirty="0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5E00BD43-8D9D-7229-9B27-372CB1C1ECE3}"/>
              </a:ext>
            </a:extLst>
          </p:cNvPr>
          <p:cNvSpPr/>
          <p:nvPr/>
        </p:nvSpPr>
        <p:spPr>
          <a:xfrm>
            <a:off x="701040" y="1493520"/>
            <a:ext cx="11094720" cy="390144"/>
          </a:xfrm>
          <a:prstGeom prst="roundRect">
            <a:avLst>
              <a:gd name="adj" fmla="val 18750"/>
            </a:avLst>
          </a:prstGeom>
          <a:solidFill>
            <a:srgbClr val="151E2B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en-SA" sz="2400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86903DD6-59D8-7019-A90E-1A629CC5F9D4}"/>
              </a:ext>
            </a:extLst>
          </p:cNvPr>
          <p:cNvSpPr/>
          <p:nvPr/>
        </p:nvSpPr>
        <p:spPr>
          <a:xfrm>
            <a:off x="701040" y="1493520"/>
            <a:ext cx="5547360" cy="390144"/>
          </a:xfrm>
          <a:prstGeom prst="roundRect">
            <a:avLst>
              <a:gd name="adj" fmla="val 18750"/>
            </a:avLst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SA" sz="240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41A2868A-D86C-E911-70A0-D79D7F47295A}"/>
              </a:ext>
            </a:extLst>
          </p:cNvPr>
          <p:cNvSpPr/>
          <p:nvPr/>
        </p:nvSpPr>
        <p:spPr>
          <a:xfrm>
            <a:off x="701040" y="1493520"/>
            <a:ext cx="11094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Progress: Month 3 of 6  ·  50% Complete</a:t>
            </a:r>
            <a:endParaRPr lang="en-US" sz="1200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3DE20F4F-14B0-FBD6-05F8-9C1428F7A933}"/>
              </a:ext>
            </a:extLst>
          </p:cNvPr>
          <p:cNvSpPr/>
          <p:nvPr/>
        </p:nvSpPr>
        <p:spPr>
          <a:xfrm>
            <a:off x="6065520" y="1395984"/>
            <a:ext cx="304800" cy="30480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SA" sz="2400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D3A23F46-B2CE-B877-2A08-ED88719E6D05}"/>
              </a:ext>
            </a:extLst>
          </p:cNvPr>
          <p:cNvSpPr/>
          <p:nvPr/>
        </p:nvSpPr>
        <p:spPr>
          <a:xfrm>
            <a:off x="5821680" y="1066800"/>
            <a:ext cx="7924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</a:t>
            </a:r>
            <a:endParaRPr lang="en-US" sz="1067" dirty="0"/>
          </a:p>
        </p:txBody>
      </p:sp>
      <p:sp>
        <p:nvSpPr>
          <p:cNvPr id="43" name="Shape 8">
            <a:extLst>
              <a:ext uri="{FF2B5EF4-FFF2-40B4-BE49-F238E27FC236}">
                <a16:creationId xmlns:a16="http://schemas.microsoft.com/office/drawing/2014/main" id="{76C05BD6-342E-96BD-5617-8F750FFC106D}"/>
              </a:ext>
            </a:extLst>
          </p:cNvPr>
          <p:cNvSpPr/>
          <p:nvPr/>
        </p:nvSpPr>
        <p:spPr>
          <a:xfrm>
            <a:off x="493776" y="2054352"/>
            <a:ext cx="3755136" cy="4535424"/>
          </a:xfrm>
          <a:prstGeom prst="roundRect">
            <a:avLst>
              <a:gd name="adj" fmla="val 3896"/>
            </a:avLst>
          </a:prstGeom>
          <a:solidFill>
            <a:srgbClr val="151E2B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SA" sz="2400"/>
          </a:p>
        </p:txBody>
      </p:sp>
      <p:sp>
        <p:nvSpPr>
          <p:cNvPr id="44" name="Shape 9">
            <a:extLst>
              <a:ext uri="{FF2B5EF4-FFF2-40B4-BE49-F238E27FC236}">
                <a16:creationId xmlns:a16="http://schemas.microsoft.com/office/drawing/2014/main" id="{266FDE88-208C-0A9E-3F92-32C5B8DC204A}"/>
              </a:ext>
            </a:extLst>
          </p:cNvPr>
          <p:cNvSpPr/>
          <p:nvPr/>
        </p:nvSpPr>
        <p:spPr>
          <a:xfrm>
            <a:off x="493776" y="2054352"/>
            <a:ext cx="3755136" cy="463296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SA" sz="240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B6442061-49E4-7DF8-EDCC-C9ED425224F7}"/>
              </a:ext>
            </a:extLst>
          </p:cNvPr>
          <p:cNvSpPr/>
          <p:nvPr/>
        </p:nvSpPr>
        <p:spPr>
          <a:xfrm>
            <a:off x="493776" y="2054352"/>
            <a:ext cx="37551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COMPLETED</a:t>
            </a:r>
            <a:endParaRPr lang="en-US" sz="1333" dirty="0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7561B037-5A04-E4BF-0413-B41ED0851DD0}"/>
              </a:ext>
            </a:extLst>
          </p:cNvPr>
          <p:cNvSpPr/>
          <p:nvPr/>
        </p:nvSpPr>
        <p:spPr>
          <a:xfrm>
            <a:off x="676656" y="2639568"/>
            <a:ext cx="2194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FF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</a:t>
            </a:r>
            <a:endParaRPr lang="en-US" sz="1600" dirty="0"/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6710B115-907A-9E5F-8692-321442A29D4F}"/>
              </a:ext>
            </a:extLst>
          </p:cNvPr>
          <p:cNvSpPr/>
          <p:nvPr/>
        </p:nvSpPr>
        <p:spPr>
          <a:xfrm>
            <a:off x="676656" y="3005328"/>
            <a:ext cx="341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 1 – 3</a:t>
            </a:r>
            <a:endParaRPr lang="en-US" sz="1267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CB825DEF-21E6-6257-664C-7F2D0925DED9}"/>
              </a:ext>
            </a:extLst>
          </p:cNvPr>
          <p:cNvSpPr/>
          <p:nvPr/>
        </p:nvSpPr>
        <p:spPr>
          <a:xfrm>
            <a:off x="676656" y="3371088"/>
            <a:ext cx="3413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 &amp; Core Engine</a:t>
            </a:r>
            <a:endParaRPr lang="en-US" sz="1533" dirty="0"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AFE06130-E45C-CD8D-6955-01771FA5315B}"/>
              </a:ext>
            </a:extLst>
          </p:cNvPr>
          <p:cNvSpPr/>
          <p:nvPr/>
        </p:nvSpPr>
        <p:spPr>
          <a:xfrm>
            <a:off x="676656" y="3785616"/>
            <a:ext cx="3413760" cy="0"/>
          </a:xfrm>
          <a:prstGeom prst="line">
            <a:avLst/>
          </a:prstGeom>
          <a:noFill/>
          <a:ln w="12700">
            <a:solidFill>
              <a:srgbClr val="00FF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A" sz="240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8B52ED0B-4BFE-E445-CFAA-33A25CBC3939}"/>
              </a:ext>
            </a:extLst>
          </p:cNvPr>
          <p:cNvSpPr/>
          <p:nvPr/>
        </p:nvSpPr>
        <p:spPr>
          <a:xfrm>
            <a:off x="676656" y="3883152"/>
            <a:ext cx="341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933"/>
              </a:spcAft>
            </a:pPr>
            <a:r>
              <a:rPr lang="en-US" sz="1333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Requirements gathering &amp; system design</a:t>
            </a:r>
            <a:endParaRPr lang="en-US" sz="1333" dirty="0"/>
          </a:p>
          <a:p>
            <a:pPr>
              <a:spcAft>
                <a:spcPts val="933"/>
              </a:spcAft>
            </a:pPr>
            <a:r>
              <a:rPr lang="en-US" sz="1333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IDS/IPS core setup with Snort/Suricata</a:t>
            </a:r>
            <a:endParaRPr lang="en-US" sz="1333" dirty="0"/>
          </a:p>
          <a:p>
            <a:pPr>
              <a:spcAft>
                <a:spcPts val="933"/>
              </a:spcAft>
            </a:pPr>
            <a:r>
              <a:rPr lang="en-US" sz="1333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AI model training on N-BaIoT &amp; UNSW-NB15</a:t>
            </a:r>
            <a:endParaRPr lang="en-US" sz="1333" dirty="0"/>
          </a:p>
          <a:p>
            <a:pPr>
              <a:spcAft>
                <a:spcPts val="933"/>
              </a:spcAft>
            </a:pPr>
            <a:r>
              <a:rPr lang="en-US" sz="1333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50-device IoT test lab simulation built</a:t>
            </a:r>
            <a:endParaRPr lang="en-US" sz="1333" dirty="0"/>
          </a:p>
        </p:txBody>
      </p:sp>
      <p:sp>
        <p:nvSpPr>
          <p:cNvPr id="51" name="Shape 16">
            <a:extLst>
              <a:ext uri="{FF2B5EF4-FFF2-40B4-BE49-F238E27FC236}">
                <a16:creationId xmlns:a16="http://schemas.microsoft.com/office/drawing/2014/main" id="{CB147E3F-5DA7-7A5D-00BB-EB726130BDFC}"/>
              </a:ext>
            </a:extLst>
          </p:cNvPr>
          <p:cNvSpPr/>
          <p:nvPr/>
        </p:nvSpPr>
        <p:spPr>
          <a:xfrm>
            <a:off x="4456176" y="2054352"/>
            <a:ext cx="3755136" cy="4535424"/>
          </a:xfrm>
          <a:prstGeom prst="roundRect">
            <a:avLst>
              <a:gd name="adj" fmla="val 3896"/>
            </a:avLst>
          </a:prstGeom>
          <a:solidFill>
            <a:srgbClr val="151E2B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SA" sz="2400"/>
          </a:p>
        </p:txBody>
      </p:sp>
      <p:sp>
        <p:nvSpPr>
          <p:cNvPr id="52" name="Shape 17">
            <a:extLst>
              <a:ext uri="{FF2B5EF4-FFF2-40B4-BE49-F238E27FC236}">
                <a16:creationId xmlns:a16="http://schemas.microsoft.com/office/drawing/2014/main" id="{B4EA42EF-DBF7-08DC-0708-6322150EE8C0}"/>
              </a:ext>
            </a:extLst>
          </p:cNvPr>
          <p:cNvSpPr/>
          <p:nvPr/>
        </p:nvSpPr>
        <p:spPr>
          <a:xfrm>
            <a:off x="4456176" y="2054352"/>
            <a:ext cx="3755136" cy="463296"/>
          </a:xfrm>
          <a:prstGeom prst="roundRect">
            <a:avLst>
              <a:gd name="adj" fmla="val 15789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SA" sz="240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3468F206-70C7-B6B0-9BD6-83CBEDAC692E}"/>
              </a:ext>
            </a:extLst>
          </p:cNvPr>
          <p:cNvSpPr/>
          <p:nvPr/>
        </p:nvSpPr>
        <p:spPr>
          <a:xfrm>
            <a:off x="4456176" y="2054352"/>
            <a:ext cx="37551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IN PROGRESS</a:t>
            </a:r>
            <a:endParaRPr lang="en-US" sz="1333" dirty="0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2A6E2CD3-76DF-BD7D-6E10-BA096A30C62C}"/>
              </a:ext>
            </a:extLst>
          </p:cNvPr>
          <p:cNvSpPr/>
          <p:nvPr/>
        </p:nvSpPr>
        <p:spPr>
          <a:xfrm>
            <a:off x="4639056" y="2639568"/>
            <a:ext cx="2194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endParaRPr lang="en-US" sz="1600" dirty="0"/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F12D99DD-6D30-B9BD-1144-F29191A8191E}"/>
              </a:ext>
            </a:extLst>
          </p:cNvPr>
          <p:cNvSpPr/>
          <p:nvPr/>
        </p:nvSpPr>
        <p:spPr>
          <a:xfrm>
            <a:off x="4639056" y="3005328"/>
            <a:ext cx="341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 4 – 5</a:t>
            </a:r>
            <a:endParaRPr lang="en-US" sz="1267" dirty="0"/>
          </a:p>
        </p:txBody>
      </p:sp>
      <p:sp>
        <p:nvSpPr>
          <p:cNvPr id="56" name="Text 21">
            <a:extLst>
              <a:ext uri="{FF2B5EF4-FFF2-40B4-BE49-F238E27FC236}">
                <a16:creationId xmlns:a16="http://schemas.microsoft.com/office/drawing/2014/main" id="{BD87BDC7-5462-BB41-FD62-D662CA6DA323}"/>
              </a:ext>
            </a:extLst>
          </p:cNvPr>
          <p:cNvSpPr/>
          <p:nvPr/>
        </p:nvSpPr>
        <p:spPr>
          <a:xfrm>
            <a:off x="4639056" y="3371088"/>
            <a:ext cx="3413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&amp; Platform Build</a:t>
            </a:r>
            <a:endParaRPr lang="en-US" sz="1533" dirty="0"/>
          </a:p>
        </p:txBody>
      </p:sp>
      <p:sp>
        <p:nvSpPr>
          <p:cNvPr id="57" name="Shape 22">
            <a:extLst>
              <a:ext uri="{FF2B5EF4-FFF2-40B4-BE49-F238E27FC236}">
                <a16:creationId xmlns:a16="http://schemas.microsoft.com/office/drawing/2014/main" id="{72CCBC02-880D-6130-5E19-6315F31C8DBB}"/>
              </a:ext>
            </a:extLst>
          </p:cNvPr>
          <p:cNvSpPr/>
          <p:nvPr/>
        </p:nvSpPr>
        <p:spPr>
          <a:xfrm>
            <a:off x="4639056" y="3785616"/>
            <a:ext cx="3413760" cy="0"/>
          </a:xfrm>
          <a:prstGeom prst="line">
            <a:avLst/>
          </a:prstGeom>
          <a:noFill/>
          <a:ln w="12700">
            <a:solidFill>
              <a:srgbClr val="FF8C0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A" sz="2400"/>
          </a:p>
        </p:txBody>
      </p:sp>
      <p:sp>
        <p:nvSpPr>
          <p:cNvPr id="58" name="Text 23">
            <a:extLst>
              <a:ext uri="{FF2B5EF4-FFF2-40B4-BE49-F238E27FC236}">
                <a16:creationId xmlns:a16="http://schemas.microsoft.com/office/drawing/2014/main" id="{BC5AABE9-9262-FE08-0B5F-B7AECFCA0AD8}"/>
              </a:ext>
            </a:extLst>
          </p:cNvPr>
          <p:cNvSpPr/>
          <p:nvPr/>
        </p:nvSpPr>
        <p:spPr>
          <a:xfrm>
            <a:off x="4639056" y="3883152"/>
            <a:ext cx="341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933"/>
              </a:spcAft>
            </a:pPr>
            <a:r>
              <a:rPr lang="en-US" sz="1333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System analysis &amp; use-case modelling</a:t>
            </a:r>
            <a:endParaRPr lang="en-US" sz="1333" dirty="0"/>
          </a:p>
          <a:p>
            <a:pPr>
              <a:spcAft>
                <a:spcPts val="933"/>
              </a:spcAft>
            </a:pPr>
            <a:r>
              <a:rPr lang="en-US" sz="1333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React.js SOC dashboard development</a:t>
            </a:r>
            <a:endParaRPr lang="en-US" sz="1333" dirty="0"/>
          </a:p>
          <a:p>
            <a:pPr>
              <a:spcAft>
                <a:spcPts val="933"/>
              </a:spcAft>
            </a:pPr>
            <a:r>
              <a:rPr lang="en-US" sz="1333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SOAR automated response playbooks</a:t>
            </a:r>
            <a:endParaRPr lang="en-US" sz="1333" dirty="0"/>
          </a:p>
          <a:p>
            <a:pPr>
              <a:spcAft>
                <a:spcPts val="933"/>
              </a:spcAft>
            </a:pPr>
            <a:r>
              <a:rPr lang="en-US" sz="1333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 Threat intelligence feed integration</a:t>
            </a:r>
            <a:endParaRPr lang="en-US" sz="1333" dirty="0"/>
          </a:p>
        </p:txBody>
      </p:sp>
      <p:sp>
        <p:nvSpPr>
          <p:cNvPr id="59" name="Shape 24">
            <a:extLst>
              <a:ext uri="{FF2B5EF4-FFF2-40B4-BE49-F238E27FC236}">
                <a16:creationId xmlns:a16="http://schemas.microsoft.com/office/drawing/2014/main" id="{4CD11F63-6687-83EC-5FEC-98CD9AD94497}"/>
              </a:ext>
            </a:extLst>
          </p:cNvPr>
          <p:cNvSpPr/>
          <p:nvPr/>
        </p:nvSpPr>
        <p:spPr>
          <a:xfrm>
            <a:off x="8418576" y="2054352"/>
            <a:ext cx="3755136" cy="4535424"/>
          </a:xfrm>
          <a:prstGeom prst="roundRect">
            <a:avLst>
              <a:gd name="adj" fmla="val 3896"/>
            </a:avLst>
          </a:prstGeom>
          <a:solidFill>
            <a:srgbClr val="151E2B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SA" sz="2400"/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998F6DA3-011A-0C85-C652-9236C3FB77C0}"/>
              </a:ext>
            </a:extLst>
          </p:cNvPr>
          <p:cNvSpPr/>
          <p:nvPr/>
        </p:nvSpPr>
        <p:spPr>
          <a:xfrm>
            <a:off x="8418576" y="2054352"/>
            <a:ext cx="3755136" cy="463296"/>
          </a:xfrm>
          <a:prstGeom prst="roundRect">
            <a:avLst>
              <a:gd name="adj" fmla="val 15789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SA" sz="2400"/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6BA9D598-22AF-251B-8321-2C243CCD7200}"/>
              </a:ext>
            </a:extLst>
          </p:cNvPr>
          <p:cNvSpPr/>
          <p:nvPr/>
        </p:nvSpPr>
        <p:spPr>
          <a:xfrm>
            <a:off x="8418576" y="2054352"/>
            <a:ext cx="375513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 UPCOMING</a:t>
            </a:r>
            <a:endParaRPr lang="en-US" sz="1333" dirty="0"/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A61592A6-968A-8F14-D5D1-00A587527519}"/>
              </a:ext>
            </a:extLst>
          </p:cNvPr>
          <p:cNvSpPr/>
          <p:nvPr/>
        </p:nvSpPr>
        <p:spPr>
          <a:xfrm>
            <a:off x="8601456" y="2639568"/>
            <a:ext cx="2194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</a:t>
            </a:r>
            <a:endParaRPr lang="en-US" sz="1600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7B21EE3C-6034-58E7-D0BB-ED319A8EB727}"/>
              </a:ext>
            </a:extLst>
          </p:cNvPr>
          <p:cNvSpPr/>
          <p:nvPr/>
        </p:nvSpPr>
        <p:spPr>
          <a:xfrm>
            <a:off x="8601456" y="3005328"/>
            <a:ext cx="341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 6</a:t>
            </a:r>
            <a:endParaRPr lang="en-US" sz="1267" dirty="0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ADF02886-C2CC-8F2F-DEB5-223E776F243C}"/>
              </a:ext>
            </a:extLst>
          </p:cNvPr>
          <p:cNvSpPr/>
          <p:nvPr/>
        </p:nvSpPr>
        <p:spPr>
          <a:xfrm>
            <a:off x="8601456" y="3371088"/>
            <a:ext cx="3413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Design, Testing &amp; Delivery</a:t>
            </a:r>
            <a:endParaRPr lang="en-US" sz="1533" dirty="0"/>
          </a:p>
        </p:txBody>
      </p:sp>
      <p:sp>
        <p:nvSpPr>
          <p:cNvPr id="65" name="Shape 30">
            <a:extLst>
              <a:ext uri="{FF2B5EF4-FFF2-40B4-BE49-F238E27FC236}">
                <a16:creationId xmlns:a16="http://schemas.microsoft.com/office/drawing/2014/main" id="{723EBB45-DC73-3E25-32D2-BD9BAE91F976}"/>
              </a:ext>
            </a:extLst>
          </p:cNvPr>
          <p:cNvSpPr/>
          <p:nvPr/>
        </p:nvSpPr>
        <p:spPr>
          <a:xfrm>
            <a:off x="8601456" y="3785616"/>
            <a:ext cx="3413760" cy="0"/>
          </a:xfrm>
          <a:prstGeom prst="line">
            <a:avLst/>
          </a:prstGeom>
          <a:noFill/>
          <a:ln w="12700">
            <a:solidFill>
              <a:srgbClr val="00D4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A" sz="2400"/>
          </a:p>
        </p:txBody>
      </p:sp>
      <p:sp>
        <p:nvSpPr>
          <p:cNvPr id="66" name="Text 31">
            <a:extLst>
              <a:ext uri="{FF2B5EF4-FFF2-40B4-BE49-F238E27FC236}">
                <a16:creationId xmlns:a16="http://schemas.microsoft.com/office/drawing/2014/main" id="{1258FF7F-9699-99AA-9318-517FC2DD129C}"/>
              </a:ext>
            </a:extLst>
          </p:cNvPr>
          <p:cNvSpPr/>
          <p:nvPr/>
        </p:nvSpPr>
        <p:spPr>
          <a:xfrm>
            <a:off x="8601456" y="3883152"/>
            <a:ext cx="341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933"/>
              </a:spcAft>
            </a:pPr>
            <a:r>
              <a:rPr lang="en-US" sz="1333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 Full system architecture &amp; DB design</a:t>
            </a:r>
            <a:endParaRPr lang="en-US" sz="1333" dirty="0"/>
          </a:p>
          <a:p>
            <a:pPr>
              <a:spcAft>
                <a:spcPts val="933"/>
              </a:spcAft>
            </a:pPr>
            <a:r>
              <a:rPr lang="en-US" sz="1333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 Integration testing across all sectors</a:t>
            </a:r>
            <a:endParaRPr lang="en-US" sz="1333" dirty="0"/>
          </a:p>
          <a:p>
            <a:pPr>
              <a:spcAft>
                <a:spcPts val="933"/>
              </a:spcAft>
            </a:pPr>
            <a:r>
              <a:rPr lang="en-US" sz="1333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 Performance benchmarking &amp; QA</a:t>
            </a:r>
            <a:endParaRPr lang="en-US" sz="1333" dirty="0"/>
          </a:p>
          <a:p>
            <a:pPr>
              <a:spcAft>
                <a:spcPts val="933"/>
              </a:spcAft>
            </a:pPr>
            <a:r>
              <a:rPr lang="en-US" sz="1333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 Final report &amp; project presentation</a:t>
            </a:r>
            <a:endParaRPr lang="en-US" sz="1333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3BE858BA-D2EC-DD1F-E4FB-5A568CE1DEA6}"/>
              </a:ext>
            </a:extLst>
          </p:cNvPr>
          <p:cNvSpPr/>
          <p:nvPr/>
        </p:nvSpPr>
        <p:spPr>
          <a:xfrm>
            <a:off x="11003280" y="6553200"/>
            <a:ext cx="1097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6B7F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rPr dirty="0"/>
              <a:t>Measuring Platform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" y="1645920"/>
            <a:ext cx="210312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88620" y="1645920"/>
            <a:ext cx="2103120" cy="381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0060" y="2011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Calibri"/>
              </a:defRPr>
            </a:pPr>
            <a:r>
              <a:t>MTTD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" y="2743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Mean Time to Detect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" y="3200400"/>
            <a:ext cx="155448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1117"/>
                </a:solidFill>
                <a:latin typeface="Calibri"/>
              </a:defRPr>
            </a:pPr>
            <a:r>
              <a:t>Target: &lt; 20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Time from attack initiation to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45920"/>
            <a:ext cx="210312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37560" y="1645920"/>
            <a:ext cx="2103120" cy="3810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2011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Calibri"/>
              </a:defRPr>
            </a:pPr>
            <a:r>
              <a:t>MTTR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743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Mean Time to Respond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3200400"/>
            <a:ext cx="1554480" cy="45720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1117"/>
                </a:solidFill>
                <a:latin typeface="Calibri"/>
              </a:defRPr>
            </a:pPr>
            <a:r>
              <a:t>Target: &lt; 10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Time from detection to response execution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1645920"/>
            <a:ext cx="210312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46520" y="1645920"/>
            <a:ext cx="2103120" cy="381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2011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F43"/>
                </a:solidFill>
                <a:latin typeface="Calibri"/>
              </a:defRPr>
            </a:pPr>
            <a:r>
              <a:t>Detection</a:t>
            </a:r>
            <a:br/>
            <a:r>
              <a:t>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743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True Positive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3200400"/>
            <a:ext cx="1554480" cy="4572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084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1117"/>
                </a:solidFill>
                <a:latin typeface="Calibri"/>
              </a:defRPr>
            </a:pPr>
            <a:r>
              <a:t>Target: &gt; 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Ratio of true positives to total detections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94520" y="1645920"/>
            <a:ext cx="210312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494520" y="1645920"/>
            <a:ext cx="2103120" cy="381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85960" y="2011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855F7"/>
                </a:solidFill>
                <a:latin typeface="Calibri"/>
              </a:defRPr>
            </a:pPr>
            <a:r>
              <a:t>Resource</a:t>
            </a:r>
            <a:br/>
            <a:r>
              <a:t>Util.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5960" y="2743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System Performance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68840" y="3200400"/>
            <a:ext cx="1554480" cy="4572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6884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1117"/>
                </a:solidFill>
                <a:latin typeface="Calibri"/>
              </a:defRPr>
            </a:pPr>
            <a:r>
              <a:t>Monitored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168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CPU, memory, network under different workloads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Planned Improvements &amp;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274320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2743200" cy="50800"/>
          </a:xfrm>
          <a:prstGeom prst="round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3B5C"/>
                </a:solidFill>
                <a:latin typeface="Calibri"/>
              </a:defRPr>
            </a:pPr>
            <a:r>
              <a:t>More Attack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FF3B5C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Expand MITRE ATT&amp;CK technique coverage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3B5C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Add multi-stage chained attack scenarios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3B5C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Real exploit execution in cyber range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45920"/>
            <a:ext cx="274320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37560" y="1645920"/>
            <a:ext cx="2743200" cy="508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Calibri"/>
              </a:defRPr>
            </a:pPr>
            <a:r>
              <a:t>Enhanced Threat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688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dirty="0">
                <a:solidFill>
                  <a:srgbClr val="FF9F43"/>
                </a:solidFill>
                <a:latin typeface="Calibri"/>
              </a:rPr>
              <a:t>▸ </a:t>
            </a:r>
            <a:r>
              <a:rPr sz="1100" dirty="0">
                <a:solidFill>
                  <a:srgbClr val="B0B8C8"/>
                </a:solidFill>
                <a:latin typeface="Calibri"/>
              </a:rPr>
              <a:t>Integrate additional threat feeds beyond </a:t>
            </a:r>
            <a:r>
              <a:rPr sz="1100" dirty="0" err="1">
                <a:solidFill>
                  <a:srgbClr val="B0B8C8"/>
                </a:solidFill>
                <a:latin typeface="Calibri"/>
              </a:rPr>
              <a:t>AbuseIPDB</a:t>
            </a:r>
            <a:endParaRPr sz="1100" dirty="0">
              <a:solidFill>
                <a:srgbClr val="B0B8C8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100" dirty="0">
                <a:solidFill>
                  <a:srgbClr val="FF9F43"/>
                </a:solidFill>
                <a:latin typeface="Calibri"/>
              </a:rPr>
              <a:t>▸ </a:t>
            </a:r>
            <a:r>
              <a:rPr sz="1100" dirty="0">
                <a:solidFill>
                  <a:srgbClr val="B0B8C8"/>
                </a:solidFill>
                <a:latin typeface="Calibri"/>
              </a:rPr>
              <a:t>IOC correlation and enrichment pipeline</a:t>
            </a:r>
          </a:p>
          <a:p>
            <a:pPr>
              <a:spcAft>
                <a:spcPts val="600"/>
              </a:spcAft>
            </a:pPr>
            <a:r>
              <a:rPr sz="1100" dirty="0">
                <a:solidFill>
                  <a:srgbClr val="FF9F43"/>
                </a:solidFill>
                <a:latin typeface="Calibri"/>
              </a:rPr>
              <a:t>▸ </a:t>
            </a:r>
            <a:r>
              <a:rPr sz="1100" dirty="0">
                <a:solidFill>
                  <a:srgbClr val="B0B8C8"/>
                </a:solidFill>
                <a:latin typeface="Calibri"/>
              </a:rPr>
              <a:t>Automated reputation scoring for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45920"/>
            <a:ext cx="274320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743200" cy="508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Advanced Detection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688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00D4FF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ML-based anomaly detection for behavioral analysis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0D4FF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Statistical baseline modeling per asset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0D4FF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Reduce false positives with contextual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645920"/>
            <a:ext cx="2743200" cy="4572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281160" y="1645920"/>
            <a:ext cx="2743200" cy="5080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404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Platform Enhancements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46888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00E676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Cloud-native deployment (Kubernetes)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0E676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Multi-user training modules and scoring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0E676"/>
                </a:solidFill>
                <a:latin typeface="Calibri"/>
              </a:rPr>
              <a:t>▸ </a:t>
            </a:r>
            <a:r>
              <a:rPr sz="1100">
                <a:solidFill>
                  <a:srgbClr val="B0B8C8"/>
                </a:solidFill>
                <a:latin typeface="Calibri"/>
              </a:rPr>
              <a:t>Dataset export for academic research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32004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D4FF"/>
                </a:solidFill>
              </a:rPr>
              <a:t>▸ </a:t>
            </a:r>
            <a:r>
              <a:rPr sz="1500">
                <a:solidFill>
                  <a:srgbClr val="B0B8C8"/>
                </a:solidFill>
                <a:latin typeface="Calibri"/>
              </a:rPr>
              <a:t>CityShield is a fully functional smart city cyber range for cybersecurity training and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4028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D4FF"/>
                </a:solidFill>
              </a:rPr>
              <a:t>▸ </a:t>
            </a:r>
            <a:r>
              <a:rPr sz="1500">
                <a:solidFill>
                  <a:srgbClr val="B0B8C8"/>
                </a:solidFill>
                <a:latin typeface="Calibri"/>
              </a:rPr>
              <a:t>Simulates realistic attack scenarios across traffic, IoT, and network domains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5176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D4FF"/>
                </a:solidFill>
              </a:rPr>
              <a:t>▸ </a:t>
            </a:r>
            <a:r>
              <a:rPr sz="1500">
                <a:solidFill>
                  <a:srgbClr val="B0B8C8"/>
                </a:solidFill>
                <a:latin typeface="Calibri"/>
              </a:rPr>
              <a:t>25 detection rules aligned to MITRE ATT&amp;CK with automated Ansible response playbooks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06324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D4FF"/>
                </a:solidFill>
              </a:rPr>
              <a:t>▸ </a:t>
            </a:r>
            <a:r>
              <a:rPr sz="1500">
                <a:solidFill>
                  <a:srgbClr val="B0B8C8"/>
                </a:solidFill>
                <a:latin typeface="Calibri"/>
              </a:rPr>
              <a:t>Interactive 3D city visualization with real-time attack feedback and alert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47472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D4FF"/>
                </a:solidFill>
              </a:rPr>
              <a:t>▸ </a:t>
            </a:r>
            <a:r>
              <a:rPr sz="1500">
                <a:solidFill>
                  <a:srgbClr val="B0B8C8"/>
                </a:solidFill>
                <a:latin typeface="Calibri"/>
              </a:rPr>
              <a:t>Role-based access control supporting Administrator, Analyst, and Researcher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88620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D4FF"/>
                </a:solidFill>
              </a:rPr>
              <a:t>▸ </a:t>
            </a:r>
            <a:r>
              <a:rPr sz="1500">
                <a:solidFill>
                  <a:srgbClr val="B0B8C8"/>
                </a:solidFill>
                <a:latin typeface="Calibri"/>
              </a:rPr>
              <a:t>Evaluation metrics (MTTD, MTTR, detection accuracy) ensure measurable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206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8C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583680"/>
            <a:ext cx="12191695" cy="508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1695</Words>
  <Application>Microsoft Macintosh PowerPoint</Application>
  <PresentationFormat>Widescreen</PresentationFormat>
  <Paragraphs>296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Obaid A Alsulaymi, Sami</cp:lastModifiedBy>
  <cp:revision>8</cp:revision>
  <dcterms:created xsi:type="dcterms:W3CDTF">2013-01-27T09:14:16Z</dcterms:created>
  <dcterms:modified xsi:type="dcterms:W3CDTF">2026-03-05T19:34:34Z</dcterms:modified>
  <cp:category/>
</cp:coreProperties>
</file>